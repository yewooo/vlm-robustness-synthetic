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Probing VLM Robustness</a:t>
            </a:r>
            <a:br/>
            <a:r>
              <a:t>with Controlled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8424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675C"/>
                </a:solidFill>
                <a:latin typeface="Aptos"/>
              </a:defRPr>
            </a:pPr>
            <a:r>
              <a:t>A controlled evaluation of BLIP and a custom VQA model under image and text perturbations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70332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83531"/>
                </a:solidFill>
                <a:latin typeface="Aptos"/>
              </a:defRPr>
            </a:pPr>
            <a:r>
              <a:t>Ye Wu and Victoria Chiang</a:t>
            </a:r>
          </a:p>
          <a:p>
            <a:pPr>
              <a:spcAft>
                <a:spcPts val="1200"/>
              </a:spcAft>
              <a:defRPr sz="1800">
                <a:solidFill>
                  <a:srgbClr val="383531"/>
                </a:solidFill>
                <a:latin typeface="Aptos"/>
              </a:defRPr>
            </a:pPr>
            <a:r>
              <a:t>Rice University · COMP 646 Final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0" y="3886200"/>
            <a:ext cx="2194560" cy="548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5-minute project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Motivation: Accuracy Is Not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83531"/>
                </a:solidFill>
                <a:latin typeface="Aptos"/>
              </a:defRPr>
            </a:pPr>
            <a:r>
              <a:t>VLMs can perform well on benchmarks but fail under small input changes.</a:t>
            </a:r>
          </a:p>
          <a:p>
            <a:pPr>
              <a:spcAft>
                <a:spcPts val="1200"/>
              </a:spcAft>
              <a:defRPr sz="2200">
                <a:solidFill>
                  <a:srgbClr val="383531"/>
                </a:solidFill>
                <a:latin typeface="Aptos"/>
              </a:defRPr>
            </a:pPr>
            <a:r>
              <a:t>Robustness matters when image/text changes preserve the correct answer.</a:t>
            </a:r>
          </a:p>
          <a:p>
            <a:pPr>
              <a:spcAft>
                <a:spcPts val="1200"/>
              </a:spcAft>
              <a:defRPr sz="2200">
                <a:solidFill>
                  <a:srgbClr val="383531"/>
                </a:solidFill>
                <a:latin typeface="Aptos"/>
              </a:defRPr>
            </a:pPr>
            <a:r>
              <a:t>Controlled synthetic data isolates specific reasoning failures.</a:t>
            </a:r>
          </a:p>
          <a:p>
            <a:pPr>
              <a:spcAft>
                <a:spcPts val="1200"/>
              </a:spcAft>
              <a:defRPr sz="2200">
                <a:solidFill>
                  <a:srgbClr val="383531"/>
                </a:solidFill>
                <a:latin typeface="Aptos"/>
              </a:defRPr>
            </a:pPr>
            <a:r>
              <a:t>Focus: attribute binding, counting, and perturbation robustness.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0" y="1600200"/>
            <a:ext cx="4251960" cy="297180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42048" y="1764792"/>
            <a:ext cx="3849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Core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40280"/>
            <a:ext cx="3703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83531"/>
                </a:solidFill>
                <a:latin typeface="Aptos"/>
              </a:defRPr>
            </a:pPr>
            <a:r>
              <a:t>When the answer should stay the same, do model outputs stay stable?</a:t>
            </a:r>
          </a:p>
          <a:p>
            <a:pPr>
              <a:spcAft>
                <a:spcPts val="1200"/>
              </a:spcAft>
              <a:defRPr sz="1800">
                <a:solidFill>
                  <a:srgbClr val="383531"/>
                </a:solidFill>
                <a:latin typeface="Aptos"/>
              </a:defRPr>
            </a:pPr>
            <a:r>
              <a:t>Which task fails: existence, counting, spatial, or comparison?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Controlled Synthetic VQA Setup</a:t>
            </a:r>
          </a:p>
        </p:txBody>
      </p:sp>
      <p:pic>
        <p:nvPicPr>
          <p:cNvPr id="3" name="Picture 2" descr="beige_perturb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715000" cy="228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03720" y="1234440"/>
            <a:ext cx="4434840" cy="434340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04888" y="1399032"/>
            <a:ext cx="40325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Dataset and Perturbations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3886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3000 training-pool examples; 20% validation split.</a:t>
            </a:r>
          </a:p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600 held-out test examples.</a:t>
            </a:r>
          </a:p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Queries: existence, counting, spatial relationship, comparison.</a:t>
            </a:r>
          </a:p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Perturbations: brightness factor 0.5, noise std 20, text rephrasing.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Models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4983480" cy="416052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581912"/>
            <a:ext cx="4581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BLIP VQA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83531"/>
                </a:solidFill>
                <a:latin typeface="Aptos"/>
              </a:defRPr>
            </a:pPr>
            <a:r>
              <a:t>Checkpoint: Salesforce/blip-vqa-base</a:t>
            </a:r>
          </a:p>
          <a:p>
            <a:pPr>
              <a:spcAft>
                <a:spcPts val="1200"/>
              </a:spcAft>
              <a:defRPr sz="2000">
                <a:solidFill>
                  <a:srgbClr val="383531"/>
                </a:solidFill>
                <a:latin typeface="Aptos"/>
              </a:defRPr>
            </a:pPr>
            <a:r>
              <a:t>Pretrained VQA baseline</a:t>
            </a:r>
          </a:p>
          <a:p>
            <a:pPr>
              <a:spcAft>
                <a:spcPts val="1200"/>
              </a:spcAft>
              <a:defRPr sz="2000">
                <a:solidFill>
                  <a:srgbClr val="383531"/>
                </a:solidFill>
                <a:latin typeface="Aptos"/>
              </a:defRPr>
            </a:pPr>
            <a:r>
              <a:t>Inference only</a:t>
            </a:r>
          </a:p>
          <a:p>
            <a:pPr>
              <a:spcAft>
                <a:spcPts val="1200"/>
              </a:spcAft>
              <a:defRPr sz="2000">
                <a:solidFill>
                  <a:srgbClr val="383531"/>
                </a:solidFill>
                <a:latin typeface="Aptos"/>
              </a:defRPr>
            </a:pPr>
            <a:r>
              <a:t>Generates short text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4983480" cy="416052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581912"/>
            <a:ext cx="4581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Custom Dual-Head VQA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38528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ResNet-18 image encoder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Bidirectional GRU text encoder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Query-type embedding + fusion MLP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Yes/no head + counting head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Perturbation augmentation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Evaluation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508760"/>
            <a:ext cx="2194560" cy="548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Original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880" y="1508760"/>
            <a:ext cx="2194560" cy="548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Brightness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508760"/>
            <a:ext cx="2194560" cy="548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098280" y="1508760"/>
            <a:ext cx="2194560" cy="548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Text Rephrasing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926080"/>
            <a:ext cx="10149840" cy="205740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90672"/>
            <a:ext cx="9747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7033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83531"/>
                </a:solidFill>
                <a:latin typeface="Aptos"/>
              </a:defRPr>
            </a:pPr>
            <a:r>
              <a:t>Exact-match accuracy · robustness degradation · per-task breakdown · paired McNemar test · qualitative robustness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1663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83531"/>
                </a:solidFill>
                <a:latin typeface="Aptos"/>
              </a:defRPr>
            </a:pPr>
            <a:r>
              <a:t>Same 600 test examples are used for both BLIP and the custom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Quantitative Results</a:t>
            </a:r>
          </a:p>
        </p:txBody>
      </p:sp>
      <p:pic>
        <p:nvPicPr>
          <p:cNvPr id="3" name="Picture 2" descr="fig1_overall_accuracy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943600" cy="36016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95160" y="1325880"/>
            <a:ext cx="4343400" cy="425196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96328" y="1490472"/>
            <a:ext cx="39410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901952"/>
            <a:ext cx="3794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BLIP clean: 0.593; Custom clean: 0.572.</a:t>
            </a:r>
          </a:p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Under noise, Custom slightly exceeds BLIP: 0.577 vs 0.570.</a:t>
            </a:r>
          </a:p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Custom improves counting through its count head.</a:t>
            </a:r>
          </a:p>
          <a:p>
            <a:pPr>
              <a:spcAft>
                <a:spcPts val="1200"/>
              </a:spcAft>
              <a:defRPr sz="1600">
                <a:solidFill>
                  <a:srgbClr val="383531"/>
                </a:solidFill>
                <a:latin typeface="Aptos"/>
              </a:defRPr>
            </a:pPr>
            <a:r>
              <a:t>McNemar tests: no significant overall difference at 0.05.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414"/>
                </a:solidFill>
                <a:latin typeface="Georgia"/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5486400" cy="4480560"/>
          </a:xfrm>
          <a:prstGeom prst="rect">
            <a:avLst/>
          </a:prstGeom>
          <a:solidFill>
            <a:srgbClr val="FAF7F0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399032"/>
            <a:ext cx="5084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Georgia"/>
              </a:defRPr>
            </a:pPr>
            <a: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783080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BLIP is slightly stronger on clean inputs, but the custom model is competitive.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Per-task analysis reveals complementary strengths.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Counting remains a key bottleneck for pretrained VQA.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Qualitative failures show why visual inspection matters.</a:t>
            </a:r>
          </a:p>
          <a:p>
            <a:pPr>
              <a:spcAft>
                <a:spcPts val="1200"/>
              </a:spcAft>
              <a:defRPr sz="1700">
                <a:solidFill>
                  <a:srgbClr val="383531"/>
                </a:solidFill>
                <a:latin typeface="Aptos"/>
              </a:defRPr>
            </a:pPr>
            <a:r>
              <a:t>Controlled synthetic evaluation helps diagnose VLM reliability.</a:t>
            </a:r>
          </a:p>
        </p:txBody>
      </p:sp>
      <p:pic>
        <p:nvPicPr>
          <p:cNvPr id="6" name="Picture 5" descr="blip_vqa_base_text_failure_01_synthetic_vlm_test_0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343400" cy="29110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27648"/>
            <a:ext cx="10835640" cy="9144"/>
          </a:xfrm>
          <a:prstGeom prst="rect">
            <a:avLst/>
          </a:prstGeom>
          <a:solidFill>
            <a:srgbClr val="BDB19E"/>
          </a:solidFill>
          <a:ln>
            <a:solidFill>
              <a:srgbClr val="BDB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3825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7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